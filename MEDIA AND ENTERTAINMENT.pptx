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9" r:id="rId4"/>
    <p:sldId id="269" r:id="rId5"/>
    <p:sldId id="260" r:id="rId6"/>
    <p:sldId id="270" r:id="rId7"/>
    <p:sldId id="261" r:id="rId8"/>
    <p:sldId id="271" r:id="rId9"/>
    <p:sldId id="272" r:id="rId10"/>
    <p:sldId id="262" r:id="rId11"/>
    <p:sldId id="273" r:id="rId12"/>
    <p:sldId id="263" r:id="rId13"/>
    <p:sldId id="274" r:id="rId14"/>
    <p:sldId id="275" r:id="rId15"/>
    <p:sldId id="264" r:id="rId16"/>
    <p:sldId id="268"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10/6/2024</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711336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10/6/2024</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3369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10/6/2024</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560326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10/6/2024</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71124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10/6/2024</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24569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10/6/2024</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849504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10/6/2024</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564355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10/6/2024</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65203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10/6/2024</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18562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10/6/2024</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250982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10/6/2024</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045430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365125"/>
            <a:ext cx="10869248" cy="168751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576513"/>
            <a:ext cx="10869248"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10/6/2024</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3221966577"/>
      </p:ext>
    </p:extLst>
  </p:cSld>
  <p:clrMap bg1="lt1" tx1="dk1" bg2="lt2" tx2="dk2" accent1="accent1" accent2="accent2" accent3="accent3" accent4="accent4" accent5="accent5" accent6="accent6" hlink="hlink" folHlink="folHlink"/>
  <p:sldLayoutIdLst>
    <p:sldLayoutId id="2147483705" r:id="rId1"/>
    <p:sldLayoutId id="2147483704" r:id="rId2"/>
    <p:sldLayoutId id="2147483703" r:id="rId3"/>
    <p:sldLayoutId id="2147483702" r:id="rId4"/>
    <p:sldLayoutId id="2147483701" r:id="rId5"/>
    <p:sldLayoutId id="2147483700" r:id="rId6"/>
    <p:sldLayoutId id="2147483699" r:id="rId7"/>
    <p:sldLayoutId id="2147483698" r:id="rId8"/>
    <p:sldLayoutId id="2147483697" r:id="rId9"/>
    <p:sldLayoutId id="2147483696" r:id="rId10"/>
    <p:sldLayoutId id="2147483695" r:id="rId11"/>
  </p:sldLayoutIdLst>
  <p:hf sldNum="0" hdr="0" ftr="0" dt="0"/>
  <p:txStyles>
    <p:titleStyle>
      <a:lvl1pPr algn="l" defTabSz="914400" rtl="0" eaLnBrk="1" latinLnBrk="0" hangingPunct="1">
        <a:lnSpc>
          <a:spcPct val="10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6811A6C-040C-4C5A-8FF3-63EC6CC40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5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491130-86E7-B2FD-75A9-E42A4FED1836}"/>
              </a:ext>
            </a:extLst>
          </p:cNvPr>
          <p:cNvSpPr>
            <a:spLocks noGrp="1"/>
          </p:cNvSpPr>
          <p:nvPr>
            <p:ph type="ctrTitle"/>
          </p:nvPr>
        </p:nvSpPr>
        <p:spPr>
          <a:xfrm>
            <a:off x="484554" y="397275"/>
            <a:ext cx="5230446" cy="3761257"/>
          </a:xfrm>
        </p:spPr>
        <p:txBody>
          <a:bodyPr anchor="ctr">
            <a:normAutofit/>
          </a:bodyPr>
          <a:lstStyle/>
          <a:p>
            <a:r>
              <a:rPr lang="en-IN" sz="5000" dirty="0"/>
              <a:t>   MEDIA AND ENTERTAINMENT</a:t>
            </a:r>
          </a:p>
        </p:txBody>
      </p:sp>
      <p:sp>
        <p:nvSpPr>
          <p:cNvPr id="3" name="Subtitle 2">
            <a:extLst>
              <a:ext uri="{FF2B5EF4-FFF2-40B4-BE49-F238E27FC236}">
                <a16:creationId xmlns:a16="http://schemas.microsoft.com/office/drawing/2014/main" id="{EBC8EB61-78F2-E662-6B17-40A81F65F200}"/>
              </a:ext>
            </a:extLst>
          </p:cNvPr>
          <p:cNvSpPr>
            <a:spLocks noGrp="1"/>
          </p:cNvSpPr>
          <p:nvPr>
            <p:ph type="subTitle" idx="1"/>
          </p:nvPr>
        </p:nvSpPr>
        <p:spPr>
          <a:xfrm>
            <a:off x="351182" y="4846029"/>
            <a:ext cx="5363817" cy="1375512"/>
          </a:xfrm>
        </p:spPr>
        <p:txBody>
          <a:bodyPr anchor="ctr">
            <a:normAutofit/>
          </a:bodyPr>
          <a:lstStyle/>
          <a:p>
            <a:r>
              <a:rPr lang="en-IN" b="1" dirty="0"/>
              <a:t>DONE BY – JYOTHSNA M</a:t>
            </a:r>
          </a:p>
        </p:txBody>
      </p:sp>
      <p:pic>
        <p:nvPicPr>
          <p:cNvPr id="15" name="Picture 14" descr="Film reel and slate">
            <a:extLst>
              <a:ext uri="{FF2B5EF4-FFF2-40B4-BE49-F238E27FC236}">
                <a16:creationId xmlns:a16="http://schemas.microsoft.com/office/drawing/2014/main" id="{92DC61F1-DC4E-BF80-D134-25E41813B324}"/>
              </a:ext>
            </a:extLst>
          </p:cNvPr>
          <p:cNvPicPr>
            <a:picLocks noChangeAspect="1"/>
          </p:cNvPicPr>
          <p:nvPr/>
        </p:nvPicPr>
        <p:blipFill>
          <a:blip r:embed="rId2"/>
          <a:srcRect l="10506" r="30160" b="-1"/>
          <a:stretch/>
        </p:blipFill>
        <p:spPr>
          <a:xfrm>
            <a:off x="6095999" y="10"/>
            <a:ext cx="6096002" cy="6857990"/>
          </a:xfrm>
          <a:prstGeom prst="rect">
            <a:avLst/>
          </a:prstGeom>
        </p:spPr>
      </p:pic>
    </p:spTree>
    <p:extLst>
      <p:ext uri="{BB962C8B-B14F-4D97-AF65-F5344CB8AC3E}">
        <p14:creationId xmlns:p14="http://schemas.microsoft.com/office/powerpoint/2010/main" val="1677660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9A3B-1E78-0049-31A2-DD89E9F09DDA}"/>
              </a:ext>
            </a:extLst>
          </p:cNvPr>
          <p:cNvSpPr>
            <a:spLocks noGrp="1"/>
          </p:cNvSpPr>
          <p:nvPr>
            <p:ph type="title"/>
          </p:nvPr>
        </p:nvSpPr>
        <p:spPr/>
        <p:txBody>
          <a:bodyPr/>
          <a:lstStyle/>
          <a:p>
            <a:r>
              <a:rPr lang="en-IN" dirty="0"/>
              <a:t>Content Overview</a:t>
            </a:r>
          </a:p>
        </p:txBody>
      </p:sp>
      <p:sp>
        <p:nvSpPr>
          <p:cNvPr id="3" name="Content Placeholder 2">
            <a:extLst>
              <a:ext uri="{FF2B5EF4-FFF2-40B4-BE49-F238E27FC236}">
                <a16:creationId xmlns:a16="http://schemas.microsoft.com/office/drawing/2014/main" id="{C73541EA-D84C-58A0-D08E-600F446932A6}"/>
              </a:ext>
            </a:extLst>
          </p:cNvPr>
          <p:cNvSpPr>
            <a:spLocks noGrp="1"/>
          </p:cNvSpPr>
          <p:nvPr>
            <p:ph idx="1"/>
          </p:nvPr>
        </p:nvSpPr>
        <p:spPr/>
        <p:txBody>
          <a:bodyPr/>
          <a:lstStyle/>
          <a:p>
            <a:r>
              <a:rPr lang="en-US" dirty="0"/>
              <a:t>Let's perform an in-depth analysis of the </a:t>
            </a:r>
            <a:r>
              <a:rPr lang="en-US" dirty="0" err="1"/>
              <a:t>Devara</a:t>
            </a:r>
            <a:r>
              <a:rPr lang="en-US" dirty="0"/>
              <a:t> movie's box office performance, using a variety of mathematical and statistical concepts. This will include probability, cumulative probability, sets, mean, median, mode, distribution, linear equations, vectors, matrices, and graphs. Each concept will be applied to a scenario related to media and entertainment.</a:t>
            </a:r>
          </a:p>
          <a:p>
            <a:r>
              <a:rPr lang="en-US" dirty="0"/>
              <a:t>Key Scenarios:</a:t>
            </a:r>
          </a:p>
          <a:p>
            <a:r>
              <a:rPr lang="en-US" dirty="0">
                <a:sym typeface="Wingdings" panose="05000000000000000000" pitchFamily="2" charset="2"/>
              </a:rPr>
              <a:t>Audience reception analysis for different age groups using probability.</a:t>
            </a:r>
          </a:p>
          <a:p>
            <a:r>
              <a:rPr lang="en-US" dirty="0">
                <a:sym typeface="Wingdings" panose="05000000000000000000" pitchFamily="2" charset="2"/>
              </a:rPr>
              <a:t>Character influence analysis in movies using</a:t>
            </a:r>
            <a:endParaRPr lang="en-IN" dirty="0"/>
          </a:p>
        </p:txBody>
      </p:sp>
    </p:spTree>
    <p:extLst>
      <p:ext uri="{BB962C8B-B14F-4D97-AF65-F5344CB8AC3E}">
        <p14:creationId xmlns:p14="http://schemas.microsoft.com/office/powerpoint/2010/main" val="2859539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DA42-EE3D-DC9E-0E3D-FF1BD50E9203}"/>
              </a:ext>
            </a:extLst>
          </p:cNvPr>
          <p:cNvSpPr>
            <a:spLocks noGrp="1"/>
          </p:cNvSpPr>
          <p:nvPr>
            <p:ph type="title"/>
          </p:nvPr>
        </p:nvSpPr>
        <p:spPr/>
        <p:txBody>
          <a:bodyPr/>
          <a:lstStyle/>
          <a:p>
            <a:r>
              <a:rPr lang="en-IN" dirty="0"/>
              <a:t>1. </a:t>
            </a:r>
            <a:r>
              <a:rPr lang="en-IN" b="1" dirty="0"/>
              <a:t>Probability Analysis</a:t>
            </a:r>
            <a:endParaRPr lang="en-IN" dirty="0"/>
          </a:p>
        </p:txBody>
      </p:sp>
      <p:sp>
        <p:nvSpPr>
          <p:cNvPr id="3" name="Content Placeholder 2">
            <a:extLst>
              <a:ext uri="{FF2B5EF4-FFF2-40B4-BE49-F238E27FC236}">
                <a16:creationId xmlns:a16="http://schemas.microsoft.com/office/drawing/2014/main" id="{3C9974CA-CA4D-F679-A1CF-5F4F7314B0DF}"/>
              </a:ext>
            </a:extLst>
          </p:cNvPr>
          <p:cNvSpPr>
            <a:spLocks noGrp="1"/>
          </p:cNvSpPr>
          <p:nvPr>
            <p:ph idx="1"/>
          </p:nvPr>
        </p:nvSpPr>
        <p:spPr/>
        <p:txBody>
          <a:bodyPr>
            <a:normAutofit fontScale="62500" lnSpcReduction="20000"/>
          </a:bodyPr>
          <a:lstStyle/>
          <a:p>
            <a:r>
              <a:rPr lang="en-US" b="1" dirty="0"/>
              <a:t>Scenario</a:t>
            </a:r>
            <a:r>
              <a:rPr lang="en-US" dirty="0"/>
              <a:t>: Based on historical data, calculate the probability of different audience segments (age groups) attending the movie.</a:t>
            </a:r>
          </a:p>
          <a:p>
            <a:pPr>
              <a:buFont typeface="Arial" panose="020B0604020202020204" pitchFamily="34" charset="0"/>
              <a:buChar char="•"/>
            </a:pPr>
            <a:r>
              <a:rPr lang="en-US" b="1" dirty="0"/>
              <a:t>Data</a:t>
            </a:r>
            <a:r>
              <a:rPr lang="en-US" dirty="0"/>
              <a:t>:</a:t>
            </a:r>
          </a:p>
          <a:p>
            <a:pPr marL="742950" lvl="1" indent="-285750">
              <a:buFont typeface="Arial" panose="020B0604020202020204" pitchFamily="34" charset="0"/>
              <a:buChar char="•"/>
            </a:pPr>
            <a:r>
              <a:rPr lang="en-US" dirty="0"/>
              <a:t>Total viewers surveyed: 1000</a:t>
            </a:r>
          </a:p>
          <a:p>
            <a:pPr marL="742950" lvl="1" indent="-285750">
              <a:buFont typeface="Arial" panose="020B0604020202020204" pitchFamily="34" charset="0"/>
              <a:buChar char="•"/>
            </a:pPr>
            <a:r>
              <a:rPr lang="en-US" dirty="0"/>
              <a:t>Age group 18-24: 300 viewers (watched movie)</a:t>
            </a:r>
          </a:p>
          <a:p>
            <a:pPr marL="742950" lvl="1" indent="-285750">
              <a:buFont typeface="Arial" panose="020B0604020202020204" pitchFamily="34" charset="0"/>
              <a:buChar char="•"/>
            </a:pPr>
            <a:r>
              <a:rPr lang="en-US" dirty="0"/>
              <a:t>Age group 25-34: 500 viewers (watched movie)</a:t>
            </a:r>
          </a:p>
          <a:p>
            <a:pPr marL="742950" lvl="1" indent="-285750">
              <a:buFont typeface="Arial" panose="020B0604020202020204" pitchFamily="34" charset="0"/>
              <a:buChar char="•"/>
            </a:pPr>
            <a:r>
              <a:rPr lang="en-US" dirty="0"/>
              <a:t>Age group 35+: 200 viewers (watched movie)</a:t>
            </a:r>
          </a:p>
          <a:p>
            <a:r>
              <a:rPr lang="en-US" dirty="0"/>
              <a:t>The probability PPP of a viewer belonging to a particular age group is calculated as:</a:t>
            </a:r>
          </a:p>
          <a:p>
            <a:pPr>
              <a:buFont typeface="+mj-lt"/>
              <a:buAutoNum type="arabicPeriod"/>
            </a:pPr>
            <a:r>
              <a:rPr lang="en-US" dirty="0"/>
              <a:t>P(Age Group)=Number of viewers in the age group / Total viewers surveyed</a:t>
            </a:r>
          </a:p>
          <a:p>
            <a:pPr marL="457200" lvl="1"/>
            <a:endParaRPr lang="en-US" dirty="0"/>
          </a:p>
          <a:p>
            <a:pPr>
              <a:buFont typeface="Arial" panose="020B0604020202020204" pitchFamily="34" charset="0"/>
              <a:buChar char="•"/>
            </a:pPr>
            <a:r>
              <a:rPr lang="en-US" b="1" dirty="0"/>
              <a:t>Probability</a:t>
            </a:r>
            <a:r>
              <a:rPr lang="en-US" dirty="0"/>
              <a:t>:</a:t>
            </a:r>
          </a:p>
          <a:p>
            <a:pPr marL="742950" lvl="1" indent="-285750">
              <a:buFont typeface="Arial" panose="020B0604020202020204" pitchFamily="34" charset="0"/>
              <a:buChar char="•"/>
            </a:pPr>
            <a:r>
              <a:rPr lang="en-US" dirty="0"/>
              <a:t>Probability of a viewer being 18-24 years old: P(Age 18-24)=300/1000=0.3</a:t>
            </a:r>
          </a:p>
          <a:p>
            <a:pPr marL="742950" lvl="1" indent="-285750">
              <a:buFont typeface="Arial" panose="020B0604020202020204" pitchFamily="34" charset="0"/>
              <a:buChar char="•"/>
            </a:pPr>
            <a:r>
              <a:rPr lang="en-US" dirty="0"/>
              <a:t>Probability of a viewer being 25-34 years old: P(Age 25-34)=500/1000=0.5</a:t>
            </a:r>
          </a:p>
          <a:p>
            <a:pPr marL="742950" lvl="1" indent="-285750">
              <a:buFont typeface="Arial" panose="020B0604020202020204" pitchFamily="34" charset="0"/>
              <a:buChar char="•"/>
            </a:pPr>
            <a:r>
              <a:rPr lang="en-US" dirty="0"/>
              <a:t>Probability of a viewer being 35+ years old: P(Age 35+)=200/1000=0.2 </a:t>
            </a:r>
          </a:p>
          <a:p>
            <a:endParaRPr lang="en-IN" dirty="0"/>
          </a:p>
        </p:txBody>
      </p:sp>
    </p:spTree>
    <p:extLst>
      <p:ext uri="{BB962C8B-B14F-4D97-AF65-F5344CB8AC3E}">
        <p14:creationId xmlns:p14="http://schemas.microsoft.com/office/powerpoint/2010/main" val="2359548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1B18DA-C0BC-14B3-064A-DA55952423CB}"/>
              </a:ext>
            </a:extLst>
          </p:cNvPr>
          <p:cNvSpPr txBox="1"/>
          <p:nvPr/>
        </p:nvSpPr>
        <p:spPr>
          <a:xfrm>
            <a:off x="970961" y="1861696"/>
            <a:ext cx="8170682" cy="5078313"/>
          </a:xfrm>
          <a:prstGeom prst="rect">
            <a:avLst/>
          </a:prstGeom>
          <a:noFill/>
        </p:spPr>
        <p:txBody>
          <a:bodyPr wrap="square">
            <a:spAutoFit/>
          </a:bodyPr>
          <a:lstStyle/>
          <a:p>
            <a:r>
              <a:rPr lang="en-US" b="1" dirty="0">
                <a:sym typeface="Wingdings" panose="05000000000000000000" pitchFamily="2" charset="2"/>
              </a:rPr>
              <a:t></a:t>
            </a:r>
            <a:r>
              <a:rPr lang="en-US" b="1" dirty="0"/>
              <a:t>Overview:</a:t>
            </a:r>
          </a:p>
          <a:p>
            <a:endParaRPr lang="en-US" b="1" dirty="0"/>
          </a:p>
          <a:p>
            <a:r>
              <a:rPr lang="en-US" dirty="0"/>
              <a:t>This analysis provides the probability distribution of viewers across different age groups who attended a specific movie. The purpose is to understand the audience segmentation and identify which age group has the highest engagement.</a:t>
            </a:r>
          </a:p>
          <a:p>
            <a:endParaRPr lang="en-US" dirty="0"/>
          </a:p>
          <a:p>
            <a:pPr marL="285750" indent="-285750">
              <a:buFont typeface="Wingdings" panose="05000000000000000000" pitchFamily="2" charset="2"/>
              <a:buChar char="è"/>
            </a:pPr>
            <a:r>
              <a:rPr lang="en-US" b="1" dirty="0"/>
              <a:t>Data Analysis:</a:t>
            </a:r>
          </a:p>
          <a:p>
            <a:pPr marL="285750" indent="-285750">
              <a:buFont typeface="Wingdings" panose="05000000000000000000" pitchFamily="2" charset="2"/>
              <a:buChar char="è"/>
            </a:pPr>
            <a:endParaRPr lang="en-US" b="1" dirty="0"/>
          </a:p>
          <a:p>
            <a:pPr>
              <a:buFont typeface="Arial" panose="020B0604020202020204" pitchFamily="34" charset="0"/>
              <a:buChar char="•"/>
            </a:pPr>
            <a:r>
              <a:rPr lang="en-US" dirty="0"/>
              <a:t>The total number of viewers surveyed was 1000.</a:t>
            </a:r>
          </a:p>
          <a:p>
            <a:pPr>
              <a:buFont typeface="Arial" panose="020B0604020202020204" pitchFamily="34" charset="0"/>
              <a:buChar char="•"/>
            </a:pPr>
            <a:r>
              <a:rPr lang="en-US" dirty="0"/>
              <a:t>Out of these, 300 belonged to the age group 18-24, 500 to the age group 25-34, and 200 to the age group 35 and above.</a:t>
            </a:r>
          </a:p>
          <a:p>
            <a:pPr>
              <a:buFont typeface="Arial" panose="020B0604020202020204" pitchFamily="34" charset="0"/>
              <a:buChar char="•"/>
            </a:pPr>
            <a:endParaRPr lang="en-US" dirty="0"/>
          </a:p>
          <a:p>
            <a:r>
              <a:rPr lang="en-US" b="1" dirty="0">
                <a:sym typeface="Wingdings" panose="05000000000000000000" pitchFamily="2" charset="2"/>
              </a:rPr>
              <a:t></a:t>
            </a:r>
            <a:r>
              <a:rPr lang="en-US" b="1" dirty="0"/>
              <a:t>Use Case and Application:</a:t>
            </a:r>
          </a:p>
          <a:p>
            <a:r>
              <a:rPr lang="en-US" dirty="0"/>
              <a:t>This probability analysis can be used to design promotional strategies tailored to the most engaged age groups, thereby maximizing audience engagement and optimizing marketing budgets for similar future movies.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305284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0A88-D592-02C8-A7D8-98B7B107F2CC}"/>
              </a:ext>
            </a:extLst>
          </p:cNvPr>
          <p:cNvSpPr>
            <a:spLocks noGrp="1"/>
          </p:cNvSpPr>
          <p:nvPr>
            <p:ph type="title"/>
          </p:nvPr>
        </p:nvSpPr>
        <p:spPr/>
        <p:txBody>
          <a:bodyPr/>
          <a:lstStyle/>
          <a:p>
            <a:r>
              <a:rPr lang="en-IN" dirty="0"/>
              <a:t>Cumulative Probability Analysis</a:t>
            </a:r>
          </a:p>
        </p:txBody>
      </p:sp>
      <p:sp>
        <p:nvSpPr>
          <p:cNvPr id="3" name="Content Placeholder 2">
            <a:extLst>
              <a:ext uri="{FF2B5EF4-FFF2-40B4-BE49-F238E27FC236}">
                <a16:creationId xmlns:a16="http://schemas.microsoft.com/office/drawing/2014/main" id="{4CF7D634-D6F2-E514-8AA5-82787BB8D4C8}"/>
              </a:ext>
            </a:extLst>
          </p:cNvPr>
          <p:cNvSpPr>
            <a:spLocks noGrp="1"/>
          </p:cNvSpPr>
          <p:nvPr>
            <p:ph idx="1"/>
          </p:nvPr>
        </p:nvSpPr>
        <p:spPr/>
        <p:txBody>
          <a:bodyPr>
            <a:normAutofit fontScale="70000" lnSpcReduction="20000"/>
          </a:bodyPr>
          <a:lstStyle/>
          <a:p>
            <a:r>
              <a:rPr lang="en-US" b="1" dirty="0"/>
              <a:t>Scenario</a:t>
            </a:r>
            <a:r>
              <a:rPr lang="en-US" dirty="0"/>
              <a:t>: Calculate the cumulative probability of the movie achieving a revenue of at least ₹50 crore by the end of the first week based on daily revenue data.</a:t>
            </a:r>
          </a:p>
          <a:p>
            <a:pPr>
              <a:buFont typeface="Arial" panose="020B0604020202020204" pitchFamily="34" charset="0"/>
              <a:buChar char="•"/>
            </a:pPr>
            <a:r>
              <a:rPr lang="en-US" b="1" dirty="0"/>
              <a:t>Daily Revenues</a:t>
            </a:r>
            <a:r>
              <a:rPr lang="en-US" dirty="0"/>
              <a:t> (in crore): [7.95, 9.25, 10.15, 8.5, 6.4, 5.75]</a:t>
            </a:r>
          </a:p>
          <a:p>
            <a:r>
              <a:rPr lang="en-IN" b="1" dirty="0"/>
              <a:t>Calculate the Mean </a:t>
            </a:r>
            <a:r>
              <a:rPr lang="el-GR" b="1" dirty="0"/>
              <a:t>μ </a:t>
            </a:r>
            <a:r>
              <a:rPr lang="en-IN" b="1" dirty="0"/>
              <a:t>and Standard Deviation (</a:t>
            </a:r>
            <a:r>
              <a:rPr lang="el-GR" b="1" dirty="0"/>
              <a:t>σ\</a:t>
            </a:r>
            <a:r>
              <a:rPr lang="en-IN" b="1" dirty="0"/>
              <a:t>sigma</a:t>
            </a:r>
            <a:r>
              <a:rPr lang="el-GR" b="1" dirty="0"/>
              <a:t>σ) </a:t>
            </a:r>
            <a:r>
              <a:rPr lang="en-IN" b="1" dirty="0"/>
              <a:t>of the Daily Revenues:</a:t>
            </a:r>
          </a:p>
          <a:p>
            <a:pPr>
              <a:buFont typeface="Arial" panose="020B0604020202020204" pitchFamily="34" charset="0"/>
              <a:buChar char="•"/>
            </a:pPr>
            <a:r>
              <a:rPr lang="en-IN" dirty="0"/>
              <a:t>            </a:t>
            </a:r>
            <a:r>
              <a:rPr lang="en-IN" b="1" dirty="0"/>
              <a:t>Mean (</a:t>
            </a:r>
            <a:r>
              <a:rPr lang="el-GR" b="1" dirty="0"/>
              <a:t>μ\</a:t>
            </a:r>
            <a:r>
              <a:rPr lang="en-IN" b="1" dirty="0"/>
              <a:t>mu</a:t>
            </a:r>
            <a:r>
              <a:rPr lang="el-GR" b="1" dirty="0"/>
              <a:t>μ):</a:t>
            </a:r>
            <a:endParaRPr lang="el-GR" dirty="0"/>
          </a:p>
          <a:p>
            <a:r>
              <a:rPr lang="en-IN" dirty="0"/>
              <a:t>                                                   </a:t>
            </a:r>
            <a:r>
              <a:rPr lang="el-GR" dirty="0"/>
              <a:t>μ=∑</a:t>
            </a:r>
            <a:r>
              <a:rPr lang="en-IN" dirty="0"/>
              <a:t>Daily Revenues / n</a:t>
            </a:r>
          </a:p>
          <a:p>
            <a:endParaRPr lang="en-IN" dirty="0"/>
          </a:p>
          <a:p>
            <a:pPr>
              <a:buFont typeface="Arial" panose="020B0604020202020204" pitchFamily="34" charset="0"/>
              <a:buChar char="•"/>
            </a:pPr>
            <a:r>
              <a:rPr lang="en-US" b="1" dirty="0"/>
              <a:t>Total Revenue for First 6 Days</a:t>
            </a:r>
            <a:r>
              <a:rPr lang="en-US" dirty="0"/>
              <a:t>: Total Revenue=7.95+9.25+10.15+8.5+6.4+5.75=48crore 10.15 + 8.5 + 6.4 + 5.75 = 48 crore.</a:t>
            </a:r>
          </a:p>
          <a:p>
            <a:pPr>
              <a:buFont typeface="Arial" panose="020B0604020202020204" pitchFamily="34" charset="0"/>
              <a:buChar char="•"/>
            </a:pPr>
            <a:r>
              <a:rPr lang="en-US" b="1" dirty="0"/>
              <a:t>Cumulative Probability</a:t>
            </a:r>
            <a:r>
              <a:rPr lang="en-US" dirty="0"/>
              <a:t>: Probability of reaching at least ₹50 crore by the end of Day 6. Given that it collected ₹48 crore, the probability can be modeled using a normal distribution.</a:t>
            </a:r>
          </a:p>
          <a:p>
            <a:endParaRPr lang="en-IN" dirty="0"/>
          </a:p>
        </p:txBody>
      </p:sp>
    </p:spTree>
    <p:extLst>
      <p:ext uri="{BB962C8B-B14F-4D97-AF65-F5344CB8AC3E}">
        <p14:creationId xmlns:p14="http://schemas.microsoft.com/office/powerpoint/2010/main" val="295273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5ECA-6D66-CCFB-564E-805C1133B12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501192-DED3-9719-B17F-53AD0F25F051}"/>
              </a:ext>
            </a:extLst>
          </p:cNvPr>
          <p:cNvSpPr>
            <a:spLocks noGrp="1"/>
          </p:cNvSpPr>
          <p:nvPr>
            <p:ph idx="1"/>
          </p:nvPr>
        </p:nvSpPr>
        <p:spPr/>
        <p:txBody>
          <a:bodyPr>
            <a:normAutofit fontScale="92500"/>
          </a:bodyPr>
          <a:lstStyle/>
          <a:p>
            <a:r>
              <a:rPr lang="en-US" b="1" dirty="0"/>
              <a:t>Content Description:</a:t>
            </a:r>
          </a:p>
          <a:p>
            <a:pPr>
              <a:buFont typeface="+mj-lt"/>
              <a:buAutoNum type="arabicPeriod"/>
            </a:pPr>
            <a:r>
              <a:rPr lang="en-US" b="1" dirty="0"/>
              <a:t>Overview:</a:t>
            </a:r>
            <a:r>
              <a:rPr lang="en-US" dirty="0"/>
              <a:t> This analysis aims to evaluate the likelihood of the movie reaching a target revenue of ₹50 crore by the end of the first week based on the cumulative probability distribution of its daily earnings.</a:t>
            </a:r>
          </a:p>
          <a:p>
            <a:pPr>
              <a:buFont typeface="+mj-lt"/>
              <a:buAutoNum type="arabicPeriod"/>
            </a:pPr>
            <a:r>
              <a:rPr lang="en-US" b="1" dirty="0"/>
              <a:t>Daily Revenue Analysis:</a:t>
            </a:r>
            <a:endParaRPr lang="en-US" dirty="0"/>
          </a:p>
          <a:p>
            <a:pPr marL="742950" lvl="1" indent="-285750">
              <a:buFont typeface="+mj-lt"/>
              <a:buAutoNum type="arabicPeriod"/>
            </a:pPr>
            <a:r>
              <a:rPr lang="en-US" dirty="0"/>
              <a:t>Over the first six days, the movie generated a total of ₹48 crore.</a:t>
            </a:r>
          </a:p>
          <a:p>
            <a:pPr marL="742950" lvl="1" indent="-285750">
              <a:buFont typeface="+mj-lt"/>
              <a:buAutoNum type="arabicPeriod"/>
            </a:pPr>
            <a:r>
              <a:rPr lang="en-US" dirty="0"/>
              <a:t>The target is to assess if the cumulative revenue will reach or exceed ₹50 crore by the end of Day 6.</a:t>
            </a:r>
          </a:p>
          <a:p>
            <a:pPr marL="457200" lvl="1"/>
            <a:r>
              <a:rPr lang="en-US" b="1" dirty="0"/>
              <a:t>Application:</a:t>
            </a:r>
            <a:r>
              <a:rPr lang="en-US" dirty="0"/>
              <a:t> This probability analysis can forecast revenue achievements for future days and make data-driven decisions on marketing and promotional strategies.</a:t>
            </a:r>
          </a:p>
          <a:p>
            <a:endParaRPr lang="en-IN" dirty="0"/>
          </a:p>
        </p:txBody>
      </p:sp>
    </p:spTree>
    <p:extLst>
      <p:ext uri="{BB962C8B-B14F-4D97-AF65-F5344CB8AC3E}">
        <p14:creationId xmlns:p14="http://schemas.microsoft.com/office/powerpoint/2010/main" val="2450663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125F-193F-3B2E-BA70-E02D11F08568}"/>
              </a:ext>
            </a:extLst>
          </p:cNvPr>
          <p:cNvSpPr>
            <a:spLocks noGrp="1"/>
          </p:cNvSpPr>
          <p:nvPr>
            <p:ph type="title"/>
          </p:nvPr>
        </p:nvSpPr>
        <p:spPr/>
        <p:txBody>
          <a:bodyPr>
            <a:normAutofit fontScale="90000"/>
          </a:bodyPr>
          <a:lstStyle/>
          <a:p>
            <a:r>
              <a:rPr lang="en-US" dirty="0"/>
              <a:t>3. </a:t>
            </a:r>
            <a:r>
              <a:rPr lang="en-US" b="1" dirty="0"/>
              <a:t>Set Theory for Distribution Rights</a:t>
            </a:r>
            <a:endParaRPr lang="en-IN" dirty="0"/>
          </a:p>
        </p:txBody>
      </p:sp>
      <p:sp>
        <p:nvSpPr>
          <p:cNvPr id="3" name="Content Placeholder 2">
            <a:extLst>
              <a:ext uri="{FF2B5EF4-FFF2-40B4-BE49-F238E27FC236}">
                <a16:creationId xmlns:a16="http://schemas.microsoft.com/office/drawing/2014/main" id="{6DEA429E-463A-5542-37A1-867EE47EDD59}"/>
              </a:ext>
            </a:extLst>
          </p:cNvPr>
          <p:cNvSpPr>
            <a:spLocks noGrp="1"/>
          </p:cNvSpPr>
          <p:nvPr>
            <p:ph idx="1"/>
          </p:nvPr>
        </p:nvSpPr>
        <p:spPr/>
        <p:txBody>
          <a:bodyPr>
            <a:normAutofit fontScale="85000" lnSpcReduction="10000"/>
          </a:bodyPr>
          <a:lstStyle/>
          <a:p>
            <a:r>
              <a:rPr lang="en-IN" b="1" dirty="0"/>
              <a:t>Scenario</a:t>
            </a:r>
            <a:r>
              <a:rPr lang="en-IN" dirty="0"/>
              <a:t>: The movie has different distribution rights for streaming, theatrical release, and TV. Define the revenue contribution of each platform using set theory.</a:t>
            </a:r>
          </a:p>
          <a:p>
            <a:pPr>
              <a:buFont typeface="Arial" panose="020B0604020202020204" pitchFamily="34" charset="0"/>
              <a:buChar char="•"/>
            </a:pPr>
            <a:r>
              <a:rPr lang="en-IN" b="1" dirty="0"/>
              <a:t>Sets</a:t>
            </a:r>
            <a:r>
              <a:rPr lang="en-IN" dirty="0"/>
              <a:t>:</a:t>
            </a:r>
          </a:p>
          <a:p>
            <a:pPr marL="742950" lvl="1" indent="-285750">
              <a:buFont typeface="Arial" panose="020B0604020202020204" pitchFamily="34" charset="0"/>
              <a:buChar char="•"/>
            </a:pPr>
            <a:r>
              <a:rPr lang="en-IN" dirty="0"/>
              <a:t>Set A: Streaming rights = ₹100 crore</a:t>
            </a:r>
          </a:p>
          <a:p>
            <a:pPr marL="742950" lvl="1" indent="-285750">
              <a:buFont typeface="Arial" panose="020B0604020202020204" pitchFamily="34" charset="0"/>
              <a:buChar char="•"/>
            </a:pPr>
            <a:r>
              <a:rPr lang="en-IN" dirty="0"/>
              <a:t>Set B: Theatrical rights = ₹150 crore</a:t>
            </a:r>
          </a:p>
          <a:p>
            <a:pPr marL="742950" lvl="1" indent="-285750">
              <a:buFont typeface="Arial" panose="020B0604020202020204" pitchFamily="34" charset="0"/>
              <a:buChar char="•"/>
            </a:pPr>
            <a:r>
              <a:rPr lang="en-IN" dirty="0"/>
              <a:t>Set C: TV rights = ₹50 crore</a:t>
            </a:r>
          </a:p>
          <a:p>
            <a:pPr marL="742950" lvl="1" indent="-285750">
              <a:buFont typeface="Arial" panose="020B0604020202020204" pitchFamily="34" charset="0"/>
              <a:buChar char="•"/>
            </a:pPr>
            <a:r>
              <a:rPr lang="en-IN" dirty="0"/>
              <a:t>Overlap of streaming and theatrical rights (A ∩ B) = ₹30 crore</a:t>
            </a:r>
          </a:p>
          <a:p>
            <a:pPr>
              <a:buFont typeface="Arial" panose="020B0604020202020204" pitchFamily="34" charset="0"/>
              <a:buChar char="•"/>
            </a:pPr>
            <a:r>
              <a:rPr lang="en-IN" b="1" dirty="0"/>
              <a:t>Total Revenue Contribution</a:t>
            </a:r>
            <a:r>
              <a:rPr lang="en-IN" dirty="0"/>
              <a:t>:</a:t>
            </a:r>
          </a:p>
          <a:p>
            <a:pPr>
              <a:buFont typeface="Arial" panose="020B0604020202020204" pitchFamily="34" charset="0"/>
              <a:buChar char="•"/>
            </a:pPr>
            <a:r>
              <a:rPr lang="en-IN" dirty="0"/>
              <a:t>Total Revenue=∣A∣+∣B∣+∣C∣−∣A∩B∣ </a:t>
            </a:r>
          </a:p>
          <a:p>
            <a:pPr>
              <a:buFont typeface="Arial" panose="020B0604020202020204" pitchFamily="34" charset="0"/>
              <a:buChar char="•"/>
            </a:pPr>
            <a:r>
              <a:rPr lang="en-IN" dirty="0"/>
              <a:t> Total Revenue=100+150+50−30=₹270 crore</a:t>
            </a:r>
          </a:p>
          <a:p>
            <a:endParaRPr lang="en-IN" dirty="0"/>
          </a:p>
        </p:txBody>
      </p:sp>
    </p:spTree>
    <p:extLst>
      <p:ext uri="{BB962C8B-B14F-4D97-AF65-F5344CB8AC3E}">
        <p14:creationId xmlns:p14="http://schemas.microsoft.com/office/powerpoint/2010/main" val="63513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8CC8D-A4CF-9570-72F9-A34A3A5632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B0617B-C06B-87F3-2D57-BD71D61419D6}"/>
              </a:ext>
            </a:extLst>
          </p:cNvPr>
          <p:cNvSpPr>
            <a:spLocks noGrp="1"/>
          </p:cNvSpPr>
          <p:nvPr>
            <p:ph idx="1"/>
          </p:nvPr>
        </p:nvSpPr>
        <p:spPr/>
        <p:txBody>
          <a:bodyPr/>
          <a:lstStyle/>
          <a:p>
            <a:r>
              <a:rPr lang="en-US" b="1" dirty="0"/>
              <a:t>Content Description:</a:t>
            </a:r>
          </a:p>
          <a:p>
            <a:pPr>
              <a:buFont typeface="+mj-lt"/>
              <a:buAutoNum type="arabicPeriod"/>
            </a:pPr>
            <a:r>
              <a:rPr lang="en-US" b="1" dirty="0"/>
              <a:t>Overview:</a:t>
            </a:r>
            <a:r>
              <a:rPr lang="en-US" dirty="0"/>
              <a:t> This analysis uses set theory to calculate the total revenue contribution from different distribution rights platforms for the movie. By considering overlaps between sets, we can accurately determine the combined revenue without double-counting shared rights.</a:t>
            </a:r>
          </a:p>
          <a:p>
            <a:pPr>
              <a:buFont typeface="+mj-lt"/>
              <a:buAutoNum type="arabicPeriod"/>
            </a:pPr>
            <a:r>
              <a:rPr lang="en-US" b="1" dirty="0"/>
              <a:t>Methodology:</a:t>
            </a:r>
            <a:endParaRPr lang="en-US" dirty="0"/>
          </a:p>
          <a:p>
            <a:pPr marL="742950" lvl="1" indent="-285750">
              <a:buFont typeface="+mj-lt"/>
              <a:buAutoNum type="arabicPeriod"/>
            </a:pPr>
            <a:r>
              <a:rPr lang="en-US" dirty="0"/>
              <a:t>Define sets representing revenue from each platform.</a:t>
            </a:r>
          </a:p>
          <a:p>
            <a:pPr marL="742950" lvl="1" indent="-285750">
              <a:buFont typeface="+mj-lt"/>
              <a:buAutoNum type="arabicPeriod"/>
            </a:pPr>
            <a:r>
              <a:rPr lang="en-US" dirty="0"/>
              <a:t>Identify any overlaps between the platforms to avoid overestimation of total revenue.</a:t>
            </a:r>
          </a:p>
          <a:p>
            <a:pPr marL="742950" lvl="1" indent="-285750">
              <a:buFont typeface="+mj-lt"/>
              <a:buAutoNum type="arabicPeriod"/>
            </a:pPr>
            <a:r>
              <a:rPr lang="en-US" dirty="0"/>
              <a:t>Apply set theory formula to calculate the final revenue contribution.</a:t>
            </a:r>
          </a:p>
          <a:p>
            <a:pPr marL="742950" lvl="1" indent="-285750">
              <a:buFont typeface="+mj-lt"/>
              <a:buAutoNum type="arabicPeriod"/>
            </a:pPr>
            <a:endParaRPr lang="en-US" dirty="0"/>
          </a:p>
          <a:p>
            <a:pPr marL="742950" lvl="1" indent="-285750">
              <a:buFont typeface="+mj-lt"/>
              <a:buAutoNum type="arabicPeriod"/>
            </a:pPr>
            <a:endParaRPr lang="en-US" dirty="0"/>
          </a:p>
          <a:p>
            <a:endParaRPr lang="en-IN" dirty="0"/>
          </a:p>
        </p:txBody>
      </p:sp>
    </p:spTree>
    <p:extLst>
      <p:ext uri="{BB962C8B-B14F-4D97-AF65-F5344CB8AC3E}">
        <p14:creationId xmlns:p14="http://schemas.microsoft.com/office/powerpoint/2010/main" val="1090459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F117-02B5-481C-2BC0-130B2D8FF6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2FDF8CC-AC25-F925-1446-0D85B6EA8C83}"/>
              </a:ext>
            </a:extLst>
          </p:cNvPr>
          <p:cNvSpPr>
            <a:spLocks noGrp="1"/>
          </p:cNvSpPr>
          <p:nvPr>
            <p:ph idx="1"/>
          </p:nvPr>
        </p:nvSpPr>
        <p:spPr/>
        <p:txBody>
          <a:bodyPr/>
          <a:lstStyle/>
          <a:p>
            <a:r>
              <a:rPr lang="en-US" b="1" dirty="0"/>
              <a:t>Application:</a:t>
            </a:r>
            <a:r>
              <a:rPr lang="en-US" dirty="0"/>
              <a:t> Understanding the revenue distribution across platforms helps in determining the value and impact of different distribution rights. This analysis can be used for future negotiations, forecasting, and optimizing distribution strategies.</a:t>
            </a:r>
            <a:endParaRPr lang="en-IN" dirty="0"/>
          </a:p>
        </p:txBody>
      </p:sp>
    </p:spTree>
    <p:extLst>
      <p:ext uri="{BB962C8B-B14F-4D97-AF65-F5344CB8AC3E}">
        <p14:creationId xmlns:p14="http://schemas.microsoft.com/office/powerpoint/2010/main" val="141124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2F73-BE34-855C-D419-9D6047EFE1D2}"/>
              </a:ext>
            </a:extLst>
          </p:cNvPr>
          <p:cNvSpPr>
            <a:spLocks noGrp="1"/>
          </p:cNvSpPr>
          <p:nvPr>
            <p:ph type="title"/>
          </p:nvPr>
        </p:nvSpPr>
        <p:spPr/>
        <p:txBody>
          <a:bodyPr>
            <a:normAutofit fontScale="90000"/>
          </a:bodyPr>
          <a:lstStyle/>
          <a:p>
            <a:r>
              <a:rPr lang="en-US" b="1" dirty="0"/>
              <a:t>Mean, Median, and Mode for Audience Ratings</a:t>
            </a:r>
            <a:endParaRPr lang="en-IN" dirty="0"/>
          </a:p>
        </p:txBody>
      </p:sp>
      <p:sp>
        <p:nvSpPr>
          <p:cNvPr id="3" name="Content Placeholder 2">
            <a:extLst>
              <a:ext uri="{FF2B5EF4-FFF2-40B4-BE49-F238E27FC236}">
                <a16:creationId xmlns:a16="http://schemas.microsoft.com/office/drawing/2014/main" id="{7172235A-BAD7-BF7F-4566-B40700F7E365}"/>
              </a:ext>
            </a:extLst>
          </p:cNvPr>
          <p:cNvSpPr>
            <a:spLocks noGrp="1"/>
          </p:cNvSpPr>
          <p:nvPr>
            <p:ph idx="1"/>
          </p:nvPr>
        </p:nvSpPr>
        <p:spPr/>
        <p:txBody>
          <a:bodyPr>
            <a:normAutofit fontScale="25000" lnSpcReduction="20000"/>
          </a:bodyPr>
          <a:lstStyle/>
          <a:p>
            <a:r>
              <a:rPr lang="en-IN" sz="4400" b="1" dirty="0"/>
              <a:t>Scenario</a:t>
            </a:r>
            <a:r>
              <a:rPr lang="en-IN" sz="4400" dirty="0"/>
              <a:t>: </a:t>
            </a:r>
            <a:r>
              <a:rPr lang="en-IN" sz="4400" dirty="0" err="1"/>
              <a:t>Analyze</a:t>
            </a:r>
            <a:r>
              <a:rPr lang="en-IN" sz="4400" dirty="0"/>
              <a:t> audience ratings for the </a:t>
            </a:r>
            <a:r>
              <a:rPr lang="en-IN" sz="4400" i="1" dirty="0" err="1"/>
              <a:t>Devara</a:t>
            </a:r>
            <a:r>
              <a:rPr lang="en-IN" sz="4400" dirty="0"/>
              <a:t> movie.</a:t>
            </a:r>
          </a:p>
          <a:p>
            <a:pPr>
              <a:buFont typeface="Arial" panose="020B0604020202020204" pitchFamily="34" charset="0"/>
              <a:buChar char="•"/>
            </a:pPr>
            <a:r>
              <a:rPr lang="en-IN" sz="4400" b="1" dirty="0"/>
              <a:t>Ratings</a:t>
            </a:r>
            <a:r>
              <a:rPr lang="en-IN" sz="4400" dirty="0"/>
              <a:t> (out of 10): [8, 7, 9, 6, 8, 9, 8, 7, 9, 6]</a:t>
            </a:r>
          </a:p>
          <a:p>
            <a:pPr>
              <a:buFont typeface="Arial" panose="020B0604020202020204" pitchFamily="34" charset="0"/>
              <a:buChar char="•"/>
            </a:pPr>
            <a:r>
              <a:rPr lang="en-IN" sz="4400" b="1" dirty="0"/>
              <a:t>Mean Rating</a:t>
            </a:r>
            <a:r>
              <a:rPr lang="en-IN" sz="4400" dirty="0"/>
              <a:t>:</a:t>
            </a:r>
          </a:p>
          <a:p>
            <a:pPr>
              <a:buFont typeface="Arial" panose="020B0604020202020204" pitchFamily="34" charset="0"/>
              <a:buChar char="•"/>
            </a:pPr>
            <a:r>
              <a:rPr lang="en-IN" sz="4400" dirty="0"/>
              <a:t>Mean=∑Ratings/Total Ratings = 8+7+9+6+8+9+8+7+9+6/10=7.7 </a:t>
            </a:r>
          </a:p>
          <a:p>
            <a:pPr>
              <a:buFont typeface="Arial" panose="020B0604020202020204" pitchFamily="34" charset="0"/>
              <a:buChar char="•"/>
            </a:pPr>
            <a:r>
              <a:rPr lang="en-IN" sz="4400" b="1" dirty="0"/>
              <a:t>Median Rating</a:t>
            </a:r>
            <a:r>
              <a:rPr lang="en-IN" sz="4400" dirty="0"/>
              <a:t>: The middle value after sorting:</a:t>
            </a:r>
          </a:p>
          <a:p>
            <a:pPr>
              <a:buFont typeface="Arial" panose="020B0604020202020204" pitchFamily="34" charset="0"/>
              <a:buChar char="•"/>
            </a:pPr>
            <a:r>
              <a:rPr lang="en-US" sz="4400" dirty="0"/>
              <a:t>Sort the ratings: [6,6,7,7,8,8,8,9,9,9]</a:t>
            </a:r>
          </a:p>
          <a:p>
            <a:pPr>
              <a:buFont typeface="Arial" panose="020B0604020202020204" pitchFamily="34" charset="0"/>
              <a:buChar char="•"/>
            </a:pPr>
            <a:r>
              <a:rPr lang="en-US" sz="4400" dirty="0"/>
              <a:t>The middle values are 8 and 8 (5th and 6th values).</a:t>
            </a:r>
          </a:p>
          <a:p>
            <a:pPr>
              <a:buFont typeface="Arial" panose="020B0604020202020204" pitchFamily="34" charset="0"/>
              <a:buChar char="•"/>
            </a:pPr>
            <a:r>
              <a:rPr lang="en-US" sz="4400" dirty="0"/>
              <a:t>Since the number of ratings is even, the median is:</a:t>
            </a:r>
          </a:p>
          <a:p>
            <a:r>
              <a:rPr lang="en-US" sz="4400" dirty="0"/>
              <a:t>Median=8+8 / 2 = 16 / 2  = 8</a:t>
            </a:r>
          </a:p>
          <a:p>
            <a:r>
              <a:rPr lang="en-IN" sz="4400" b="1" dirty="0"/>
              <a:t>Mode Rating</a:t>
            </a:r>
            <a:r>
              <a:rPr lang="en-IN" sz="4400" dirty="0"/>
              <a:t>: The most frequently occurring value:  </a:t>
            </a:r>
          </a:p>
          <a:p>
            <a:pPr>
              <a:buFont typeface="Arial" panose="020B0604020202020204" pitchFamily="34" charset="0"/>
              <a:buChar char="•"/>
            </a:pPr>
            <a:r>
              <a:rPr lang="en-US" sz="4400" dirty="0"/>
              <a:t>In the given ratings: [8,7,9,6,8,9,8,7,9,6][8, 7, 9, 6, 8, 9, 8, 7, 9, 6][8,7,9,6,8,9,8,7,9,6], both 8 and 9 appear three times.</a:t>
            </a:r>
          </a:p>
          <a:p>
            <a:r>
              <a:rPr lang="en-US" sz="4400" dirty="0"/>
              <a:t>Thus, the mode ratings are 8 and 9.</a:t>
            </a:r>
          </a:p>
          <a:p>
            <a:pPr>
              <a:buFont typeface="Arial" panose="020B0604020202020204" pitchFamily="34" charset="0"/>
              <a:buChar char="•"/>
            </a:pPr>
            <a:endParaRPr lang="en-IN" dirty="0"/>
          </a:p>
          <a:p>
            <a:r>
              <a:rPr lang="en-IN" dirty="0"/>
              <a:t>                         Mode=8 and 9</a:t>
            </a:r>
          </a:p>
        </p:txBody>
      </p:sp>
    </p:spTree>
    <p:extLst>
      <p:ext uri="{BB962C8B-B14F-4D97-AF65-F5344CB8AC3E}">
        <p14:creationId xmlns:p14="http://schemas.microsoft.com/office/powerpoint/2010/main" val="812425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FECA5-20DA-4DA5-D2C1-24CCA75606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F3D041-008C-772B-B595-511F85AF65D3}"/>
              </a:ext>
            </a:extLst>
          </p:cNvPr>
          <p:cNvSpPr>
            <a:spLocks noGrp="1"/>
          </p:cNvSpPr>
          <p:nvPr>
            <p:ph idx="1"/>
          </p:nvPr>
        </p:nvSpPr>
        <p:spPr/>
        <p:txBody>
          <a:bodyPr/>
          <a:lstStyle/>
          <a:p>
            <a:r>
              <a:rPr lang="en-US" b="1" dirty="0"/>
              <a:t>Overview:</a:t>
            </a:r>
          </a:p>
          <a:p>
            <a:r>
              <a:rPr lang="en-US" dirty="0"/>
              <a:t>This analysis provides a statistical summary of audience ratings for the </a:t>
            </a:r>
            <a:r>
              <a:rPr lang="en-US" i="1" dirty="0" err="1"/>
              <a:t>Devara</a:t>
            </a:r>
            <a:r>
              <a:rPr lang="en-US" dirty="0"/>
              <a:t> movie. The mean rating indicates the average opinion of the viewers, the median highlights the central tendency, and the mode identifies the most common ratings. This type of analysis is helpful for understanding audience reception and can be used to compare the movie's performance with other releases.</a:t>
            </a:r>
          </a:p>
          <a:p>
            <a:endParaRPr lang="en-IN" dirty="0"/>
          </a:p>
        </p:txBody>
      </p:sp>
    </p:spTree>
    <p:extLst>
      <p:ext uri="{BB962C8B-B14F-4D97-AF65-F5344CB8AC3E}">
        <p14:creationId xmlns:p14="http://schemas.microsoft.com/office/powerpoint/2010/main" val="772242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98B8-B518-4342-B262-2BA3B42A9546}"/>
              </a:ext>
            </a:extLst>
          </p:cNvPr>
          <p:cNvSpPr>
            <a:spLocks noGrp="1"/>
          </p:cNvSpPr>
          <p:nvPr>
            <p:ph type="title"/>
          </p:nvPr>
        </p:nvSpPr>
        <p:spPr/>
        <p:txBody>
          <a:bodyPr/>
          <a:lstStyle/>
          <a:p>
            <a:r>
              <a:rPr lang="en-IN" dirty="0"/>
              <a:t>Distribution Analysis</a:t>
            </a:r>
          </a:p>
        </p:txBody>
      </p:sp>
      <p:sp>
        <p:nvSpPr>
          <p:cNvPr id="3" name="Content Placeholder 2">
            <a:extLst>
              <a:ext uri="{FF2B5EF4-FFF2-40B4-BE49-F238E27FC236}">
                <a16:creationId xmlns:a16="http://schemas.microsoft.com/office/drawing/2014/main" id="{4C597655-6E54-FAD7-47C4-0A83E40106DF}"/>
              </a:ext>
            </a:extLst>
          </p:cNvPr>
          <p:cNvSpPr>
            <a:spLocks noGrp="1"/>
          </p:cNvSpPr>
          <p:nvPr>
            <p:ph idx="1"/>
          </p:nvPr>
        </p:nvSpPr>
        <p:spPr/>
        <p:txBody>
          <a:bodyPr>
            <a:normAutofit/>
          </a:bodyPr>
          <a:lstStyle/>
          <a:p>
            <a:r>
              <a:rPr lang="en-US" b="1" dirty="0"/>
              <a:t>Scenario</a:t>
            </a:r>
            <a:r>
              <a:rPr lang="en-US" dirty="0"/>
              <a:t>: The revenue distribution follows a normal pattern. Analyze the distribution to determine if there is skewness.</a:t>
            </a:r>
          </a:p>
          <a:p>
            <a:pPr>
              <a:buFont typeface="Arial" panose="020B0604020202020204" pitchFamily="34" charset="0"/>
              <a:buChar char="•"/>
            </a:pPr>
            <a:r>
              <a:rPr lang="en-US" b="1" dirty="0"/>
              <a:t>Revenue Data</a:t>
            </a:r>
            <a:r>
              <a:rPr lang="en-US" dirty="0"/>
              <a:t>: [7.95, 9.25, 10.15, 8.5, 6.4, 5.75]</a:t>
            </a:r>
          </a:p>
          <a:p>
            <a:r>
              <a:rPr lang="en-US" b="1" dirty="0">
                <a:sym typeface="Wingdings" panose="05000000000000000000" pitchFamily="2" charset="2"/>
              </a:rPr>
              <a:t></a:t>
            </a:r>
            <a:r>
              <a:rPr lang="en-US" b="1" dirty="0"/>
              <a:t>Given values Mean</a:t>
            </a:r>
            <a:r>
              <a:rPr lang="en-US" dirty="0"/>
              <a:t>: 7.98</a:t>
            </a:r>
          </a:p>
          <a:p>
            <a:r>
              <a:rPr lang="en-US" b="1" dirty="0">
                <a:sym typeface="Wingdings" panose="05000000000000000000" pitchFamily="2" charset="2"/>
              </a:rPr>
              <a:t></a:t>
            </a:r>
            <a:r>
              <a:rPr lang="en-US" b="1" dirty="0"/>
              <a:t>Standard Deviation</a:t>
            </a:r>
            <a:r>
              <a:rPr lang="en-US" dirty="0"/>
              <a:t>: 1.65</a:t>
            </a:r>
          </a:p>
          <a:p>
            <a:r>
              <a:rPr lang="en-US" b="1" dirty="0"/>
              <a:t>Normal Distribution Analysis:</a:t>
            </a:r>
            <a:r>
              <a:rPr lang="en-US" dirty="0"/>
              <a:t> In a normal distribution, the empirical rule (68-95-99.7 rule) tells us that if the data follows a normal distribution, 68% of the values should fall within ±1 standard deviation of the mean.</a:t>
            </a:r>
          </a:p>
          <a:p>
            <a:endParaRPr lang="en-IN" dirty="0"/>
          </a:p>
        </p:txBody>
      </p:sp>
    </p:spTree>
    <p:extLst>
      <p:ext uri="{BB962C8B-B14F-4D97-AF65-F5344CB8AC3E}">
        <p14:creationId xmlns:p14="http://schemas.microsoft.com/office/powerpoint/2010/main" val="2920147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6A86-B52F-B69C-CE68-45348620E6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93A39C-7F2C-AC7F-86E0-A30A3750C476}"/>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IN" dirty="0"/>
              <a:t>Calculate the range for </a:t>
            </a:r>
            <a:r>
              <a:rPr lang="en-IN" b="1" dirty="0"/>
              <a:t>±1 standard deviation</a:t>
            </a:r>
            <a:r>
              <a:rPr lang="en-IN" dirty="0"/>
              <a:t>:</a:t>
            </a:r>
          </a:p>
          <a:p>
            <a:pPr>
              <a:buFont typeface="Arial" panose="020B0604020202020204" pitchFamily="34" charset="0"/>
              <a:buChar char="•"/>
            </a:pPr>
            <a:r>
              <a:rPr lang="en-IN" dirty="0"/>
              <a:t>Range=</a:t>
            </a:r>
            <a:r>
              <a:rPr lang="el-GR" dirty="0"/>
              <a:t>μ±σ=7.98±1.65</a:t>
            </a:r>
            <a:endParaRPr lang="en-IN" dirty="0"/>
          </a:p>
          <a:p>
            <a:pPr>
              <a:buFont typeface="Arial" panose="020B0604020202020204" pitchFamily="34" charset="0"/>
              <a:buChar char="•"/>
            </a:pPr>
            <a:r>
              <a:rPr lang="en-IN" dirty="0"/>
              <a:t>Lower Bound: 7.98 – 1.65 = 6.33</a:t>
            </a:r>
          </a:p>
          <a:p>
            <a:pPr>
              <a:buFont typeface="Arial" panose="020B0604020202020204" pitchFamily="34" charset="0"/>
              <a:buChar char="•"/>
            </a:pPr>
            <a:r>
              <a:rPr lang="en-IN" dirty="0"/>
              <a:t>Upper Bound: 7.98+1.65=9.63</a:t>
            </a:r>
          </a:p>
          <a:p>
            <a:r>
              <a:rPr lang="en-US" b="1" dirty="0"/>
              <a:t>Overview:</a:t>
            </a:r>
          </a:p>
          <a:p>
            <a:pPr>
              <a:buFont typeface="Arial" panose="020B0604020202020204" pitchFamily="34" charset="0"/>
              <a:buChar char="•"/>
            </a:pPr>
            <a:r>
              <a:rPr lang="en-US" dirty="0"/>
              <a:t>This analysis uses the properties of the normal distribution to validate whether the revenue data is normally distributed.</a:t>
            </a:r>
          </a:p>
          <a:p>
            <a:pPr>
              <a:buFont typeface="Arial" panose="020B0604020202020204" pitchFamily="34" charset="0"/>
              <a:buChar char="•"/>
            </a:pPr>
            <a:r>
              <a:rPr lang="en-US" dirty="0"/>
              <a:t>By calculating the range for ±1 standard deviation, we can confirm if the revenue values fit within the expected distribution range.</a:t>
            </a:r>
          </a:p>
          <a:p>
            <a:endParaRPr lang="en-IN" dirty="0"/>
          </a:p>
          <a:p>
            <a:endParaRPr lang="en-IN" dirty="0"/>
          </a:p>
        </p:txBody>
      </p:sp>
    </p:spTree>
    <p:extLst>
      <p:ext uri="{BB962C8B-B14F-4D97-AF65-F5344CB8AC3E}">
        <p14:creationId xmlns:p14="http://schemas.microsoft.com/office/powerpoint/2010/main" val="4171157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12B78-CD33-3A65-C34D-2FC5026CC8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723EC8-CDB8-B6F0-CC19-566872C5EA41}"/>
              </a:ext>
            </a:extLst>
          </p:cNvPr>
          <p:cNvSpPr>
            <a:spLocks noGrp="1"/>
          </p:cNvSpPr>
          <p:nvPr>
            <p:ph idx="1"/>
          </p:nvPr>
        </p:nvSpPr>
        <p:spPr/>
        <p:txBody>
          <a:bodyPr/>
          <a:lstStyle/>
          <a:p>
            <a:r>
              <a:rPr lang="en-US" b="1" dirty="0"/>
              <a:t>Conclusion:</a:t>
            </a:r>
          </a:p>
          <a:p>
            <a:r>
              <a:rPr lang="en-US" dirty="0"/>
              <a:t>To complete the analysis, we can calculate the skewness value and determine if it is significantly positive or negative, indicating the nature of the skewness in the revenue data.</a:t>
            </a:r>
          </a:p>
          <a:p>
            <a:endParaRPr lang="en-IN" dirty="0"/>
          </a:p>
        </p:txBody>
      </p:sp>
    </p:spTree>
    <p:extLst>
      <p:ext uri="{BB962C8B-B14F-4D97-AF65-F5344CB8AC3E}">
        <p14:creationId xmlns:p14="http://schemas.microsoft.com/office/powerpoint/2010/main" val="2918015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AE04-1A77-2AE1-501C-40DE9AFA177D}"/>
              </a:ext>
            </a:extLst>
          </p:cNvPr>
          <p:cNvSpPr>
            <a:spLocks noGrp="1"/>
          </p:cNvSpPr>
          <p:nvPr>
            <p:ph type="title"/>
          </p:nvPr>
        </p:nvSpPr>
        <p:spPr/>
        <p:txBody>
          <a:bodyPr>
            <a:normAutofit fontScale="90000"/>
          </a:bodyPr>
          <a:lstStyle/>
          <a:p>
            <a:r>
              <a:rPr lang="en-US" dirty="0"/>
              <a:t>Linear Equations and Vectors for Predictive Modeling</a:t>
            </a:r>
            <a:endParaRPr lang="en-IN" dirty="0"/>
          </a:p>
        </p:txBody>
      </p:sp>
      <p:sp>
        <p:nvSpPr>
          <p:cNvPr id="3" name="Content Placeholder 2">
            <a:extLst>
              <a:ext uri="{FF2B5EF4-FFF2-40B4-BE49-F238E27FC236}">
                <a16:creationId xmlns:a16="http://schemas.microsoft.com/office/drawing/2014/main" id="{55E35020-CC6B-5D48-8C41-711280E09176}"/>
              </a:ext>
            </a:extLst>
          </p:cNvPr>
          <p:cNvSpPr>
            <a:spLocks noGrp="1"/>
          </p:cNvSpPr>
          <p:nvPr>
            <p:ph idx="1"/>
          </p:nvPr>
        </p:nvSpPr>
        <p:spPr/>
        <p:txBody>
          <a:bodyPr>
            <a:normAutofit fontScale="92500" lnSpcReduction="20000"/>
          </a:bodyPr>
          <a:lstStyle/>
          <a:p>
            <a:r>
              <a:rPr lang="en-IN" b="1" dirty="0"/>
              <a:t>Scenario</a:t>
            </a:r>
            <a:r>
              <a:rPr lang="en-IN" dirty="0"/>
              <a:t>: Predict future revenues using linear equations based on marketing spend, number of </a:t>
            </a:r>
            <a:r>
              <a:rPr lang="en-IN" dirty="0" err="1"/>
              <a:t>theaters</a:t>
            </a:r>
            <a:r>
              <a:rPr lang="en-IN" dirty="0"/>
              <a:t>, and average ratings.</a:t>
            </a:r>
          </a:p>
          <a:p>
            <a:pPr>
              <a:buFont typeface="Arial" panose="020B0604020202020204" pitchFamily="34" charset="0"/>
              <a:buChar char="•"/>
            </a:pPr>
            <a:r>
              <a:rPr lang="en-IN" b="1" dirty="0"/>
              <a:t>Features</a:t>
            </a:r>
            <a:r>
              <a:rPr lang="en-IN" dirty="0"/>
              <a:t>: [Marketing Spend, </a:t>
            </a:r>
            <a:r>
              <a:rPr lang="en-IN" dirty="0" err="1"/>
              <a:t>Theaters</a:t>
            </a:r>
            <a:r>
              <a:rPr lang="en-IN" dirty="0"/>
              <a:t>, Ratings]</a:t>
            </a:r>
          </a:p>
          <a:p>
            <a:pPr>
              <a:buFont typeface="Arial" panose="020B0604020202020204" pitchFamily="34" charset="0"/>
              <a:buChar char="•"/>
            </a:pPr>
            <a:r>
              <a:rPr lang="en-IN" b="1" dirty="0"/>
              <a:t>Coefficients</a:t>
            </a:r>
            <a:r>
              <a:rPr lang="en-IN" dirty="0"/>
              <a:t> from the regression model:</a:t>
            </a:r>
          </a:p>
          <a:p>
            <a:pPr marL="742950" lvl="1" indent="-285750">
              <a:buFont typeface="Arial" panose="020B0604020202020204" pitchFamily="34" charset="0"/>
              <a:buChar char="•"/>
            </a:pPr>
            <a:r>
              <a:rPr lang="el-GR" dirty="0"/>
              <a:t>β0=10</a:t>
            </a:r>
            <a:r>
              <a:rPr lang="en-IN" dirty="0"/>
              <a:t>, </a:t>
            </a:r>
            <a:r>
              <a:rPr lang="el-GR" dirty="0"/>
              <a:t> β1=1.5, β2=0.01, β3=2.5</a:t>
            </a:r>
            <a:endParaRPr lang="en-IN" dirty="0"/>
          </a:p>
          <a:p>
            <a:r>
              <a:rPr lang="en-IN" b="1" dirty="0"/>
              <a:t>The linear regression equation for predicting revenue (YYY</a:t>
            </a:r>
            <a:r>
              <a:rPr lang="en-IN" dirty="0"/>
              <a:t>) is:</a:t>
            </a:r>
          </a:p>
          <a:p>
            <a:r>
              <a:rPr lang="en-IN" dirty="0"/>
              <a:t>Y=</a:t>
            </a:r>
            <a:r>
              <a:rPr lang="el-GR" dirty="0"/>
              <a:t>β0+β1×</a:t>
            </a:r>
            <a:r>
              <a:rPr lang="en-IN" dirty="0"/>
              <a:t>Marketing Spend+</a:t>
            </a:r>
            <a:r>
              <a:rPr lang="el-GR" dirty="0"/>
              <a:t>β2×</a:t>
            </a:r>
            <a:r>
              <a:rPr lang="en-IN" dirty="0"/>
              <a:t>Number of </a:t>
            </a:r>
            <a:r>
              <a:rPr lang="en-IN" dirty="0" err="1"/>
              <a:t>Theaters</a:t>
            </a:r>
            <a:r>
              <a:rPr lang="en-IN" dirty="0"/>
              <a:t>+</a:t>
            </a:r>
            <a:r>
              <a:rPr lang="el-GR" dirty="0"/>
              <a:t>β3×</a:t>
            </a:r>
            <a:r>
              <a:rPr lang="en-IN" dirty="0"/>
              <a:t>Average Ratings</a:t>
            </a:r>
            <a:endParaRPr lang="el-GR" dirty="0"/>
          </a:p>
          <a:p>
            <a:pPr>
              <a:buFont typeface="Arial" panose="020B0604020202020204" pitchFamily="34" charset="0"/>
              <a:buChar char="•"/>
            </a:pPr>
            <a:r>
              <a:rPr lang="en-IN" b="1" dirty="0"/>
              <a:t>Prediction Equation</a:t>
            </a:r>
            <a:r>
              <a:rPr lang="en-IN" dirty="0"/>
              <a:t>:</a:t>
            </a:r>
          </a:p>
          <a:p>
            <a:pPr>
              <a:buFont typeface="Arial" panose="020B0604020202020204" pitchFamily="34" charset="0"/>
              <a:buChar char="•"/>
            </a:pPr>
            <a:r>
              <a:rPr lang="en-IN" dirty="0"/>
              <a:t>Revenue=10+1.5×(Marketing)+0.01×(</a:t>
            </a:r>
            <a:r>
              <a:rPr lang="en-IN" dirty="0" err="1"/>
              <a:t>Theaters</a:t>
            </a:r>
            <a:r>
              <a:rPr lang="en-IN" dirty="0"/>
              <a:t>)+2.5×(Ratings)</a:t>
            </a:r>
          </a:p>
          <a:p>
            <a:endParaRPr lang="en-IN" dirty="0"/>
          </a:p>
        </p:txBody>
      </p:sp>
    </p:spTree>
    <p:extLst>
      <p:ext uri="{BB962C8B-B14F-4D97-AF65-F5344CB8AC3E}">
        <p14:creationId xmlns:p14="http://schemas.microsoft.com/office/powerpoint/2010/main" val="3972631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AAC9EA-F387-EA45-852C-0C81304D3F0A}"/>
              </a:ext>
            </a:extLst>
          </p:cNvPr>
          <p:cNvSpPr txBox="1"/>
          <p:nvPr/>
        </p:nvSpPr>
        <p:spPr>
          <a:xfrm>
            <a:off x="1404593" y="889843"/>
            <a:ext cx="9162854" cy="5632311"/>
          </a:xfrm>
          <a:prstGeom prst="rect">
            <a:avLst/>
          </a:prstGeom>
          <a:noFill/>
        </p:spPr>
        <p:txBody>
          <a:bodyPr wrap="square">
            <a:spAutoFit/>
          </a:bodyPr>
          <a:lstStyle/>
          <a:p>
            <a:r>
              <a:rPr lang="en-US" b="1" dirty="0"/>
              <a:t>Example Application for </a:t>
            </a:r>
            <a:r>
              <a:rPr lang="en-US" b="1" dirty="0" err="1"/>
              <a:t>Devara</a:t>
            </a:r>
            <a:r>
              <a:rPr lang="en-US" b="1" dirty="0"/>
              <a:t> Movie Analysis:</a:t>
            </a:r>
          </a:p>
          <a:p>
            <a:endParaRPr lang="en-US" b="1" dirty="0"/>
          </a:p>
          <a:p>
            <a:r>
              <a:rPr lang="en-US" dirty="0"/>
              <a:t>For analyzing the success or engagement of the movie </a:t>
            </a:r>
            <a:r>
              <a:rPr lang="en-US" i="1" dirty="0" err="1"/>
              <a:t>Devara</a:t>
            </a:r>
            <a:r>
              <a:rPr lang="en-US" dirty="0"/>
              <a:t>, we can define an </a:t>
            </a:r>
            <a:r>
              <a:rPr lang="en-US" b="1" dirty="0"/>
              <a:t>Engagement Index</a:t>
            </a:r>
            <a:r>
              <a:rPr lang="en-US" dirty="0"/>
              <a:t> by following these steps:</a:t>
            </a:r>
          </a:p>
          <a:p>
            <a:endParaRPr lang="en-US" dirty="0"/>
          </a:p>
          <a:p>
            <a:r>
              <a:rPr lang="en-US" dirty="0">
                <a:sym typeface="Wingdings" panose="05000000000000000000" pitchFamily="2" charset="2"/>
              </a:rPr>
              <a:t></a:t>
            </a:r>
            <a:r>
              <a:rPr lang="en-US" dirty="0"/>
              <a:t>Collect data on viewership, social media mentions, box office revenue, and audience demographics.</a:t>
            </a:r>
          </a:p>
          <a:p>
            <a:endParaRPr lang="en-US" dirty="0"/>
          </a:p>
          <a:p>
            <a:r>
              <a:rPr lang="en-US" dirty="0">
                <a:sym typeface="Wingdings" panose="05000000000000000000" pitchFamily="2" charset="2"/>
              </a:rPr>
              <a:t></a:t>
            </a:r>
            <a:r>
              <a:rPr lang="en-US" dirty="0"/>
              <a:t>Calculate the probability and cumulative probability of audience engagement over multiple channels (TV, online streaming, etc.).</a:t>
            </a:r>
          </a:p>
          <a:p>
            <a:endParaRPr lang="en-US" dirty="0"/>
          </a:p>
          <a:p>
            <a:r>
              <a:rPr lang="en-US" dirty="0">
                <a:sym typeface="Wingdings" panose="05000000000000000000" pitchFamily="2" charset="2"/>
              </a:rPr>
              <a:t></a:t>
            </a:r>
            <a:r>
              <a:rPr lang="en-US" dirty="0"/>
              <a:t>Use mean, median, and mode to summarize engagement metrics.</a:t>
            </a:r>
          </a:p>
          <a:p>
            <a:endParaRPr lang="en-US" dirty="0"/>
          </a:p>
          <a:p>
            <a:r>
              <a:rPr lang="en-US" dirty="0">
                <a:sym typeface="Wingdings" panose="05000000000000000000" pitchFamily="2" charset="2"/>
              </a:rPr>
              <a:t></a:t>
            </a:r>
            <a:r>
              <a:rPr lang="en-US" dirty="0"/>
              <a:t>Apply linear regression to find the relationship between engagement and variables like social media marketing and reviews.</a:t>
            </a:r>
          </a:p>
          <a:p>
            <a:endParaRPr lang="en-US" dirty="0"/>
          </a:p>
          <a:p>
            <a:r>
              <a:rPr lang="en-US" dirty="0">
                <a:sym typeface="Wingdings" panose="05000000000000000000" pitchFamily="2" charset="2"/>
              </a:rPr>
              <a:t></a:t>
            </a:r>
            <a:r>
              <a:rPr lang="en-US" dirty="0"/>
              <a:t>Represent the data as vectors and use matrices to find correlations.</a:t>
            </a:r>
          </a:p>
          <a:p>
            <a:endParaRPr lang="en-US" dirty="0"/>
          </a:p>
          <a:p>
            <a:r>
              <a:rPr lang="en-US" dirty="0">
                <a:sym typeface="Wingdings" panose="05000000000000000000" pitchFamily="2" charset="2"/>
              </a:rPr>
              <a:t></a:t>
            </a:r>
            <a:r>
              <a:rPr lang="en-US" dirty="0"/>
              <a:t>Apply eigenvectors to identify the most significant factors impacting the engagement.</a:t>
            </a:r>
          </a:p>
        </p:txBody>
      </p:sp>
    </p:spTree>
    <p:extLst>
      <p:ext uri="{BB962C8B-B14F-4D97-AF65-F5344CB8AC3E}">
        <p14:creationId xmlns:p14="http://schemas.microsoft.com/office/powerpoint/2010/main" val="4094998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3335B-FB4C-2539-2147-4E25264BFDE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4907511-B89C-FE9E-DE41-1DC26B4A20B1}"/>
              </a:ext>
            </a:extLst>
          </p:cNvPr>
          <p:cNvSpPr>
            <a:spLocks noGrp="1"/>
          </p:cNvSpPr>
          <p:nvPr>
            <p:ph idx="1"/>
          </p:nvPr>
        </p:nvSpPr>
        <p:spPr/>
        <p:txBody>
          <a:bodyPr/>
          <a:lstStyle/>
          <a:p>
            <a:pPr marL="342900" indent="-342900">
              <a:buFont typeface="Wingdings" panose="05000000000000000000" pitchFamily="2" charset="2"/>
              <a:buChar char="è"/>
            </a:pPr>
            <a:r>
              <a:rPr lang="en-US" dirty="0">
                <a:sym typeface="Wingdings" panose="05000000000000000000" pitchFamily="2" charset="2"/>
              </a:rPr>
              <a:t>By applying various mathematical and statistical concepts, we can gain deeper insights into:</a:t>
            </a:r>
          </a:p>
          <a:p>
            <a:pPr marL="342900" indent="-342900">
              <a:buFont typeface="Wingdings" panose="05000000000000000000" pitchFamily="2" charset="2"/>
              <a:buChar char="è"/>
            </a:pPr>
            <a:r>
              <a:rPr lang="en-US" dirty="0">
                <a:sym typeface="Wingdings" panose="05000000000000000000" pitchFamily="2" charset="2"/>
              </a:rPr>
              <a:t> Audience behavior and reception.</a:t>
            </a:r>
          </a:p>
          <a:p>
            <a:pPr marL="342900" indent="-342900">
              <a:buFont typeface="Wingdings" panose="05000000000000000000" pitchFamily="2" charset="2"/>
              <a:buChar char="è"/>
            </a:pPr>
            <a:r>
              <a:rPr lang="en-US" dirty="0">
                <a:sym typeface="Wingdings" panose="05000000000000000000" pitchFamily="2" charset="2"/>
              </a:rPr>
              <a:t> Character influence within narratives.</a:t>
            </a:r>
          </a:p>
          <a:p>
            <a:pPr marL="342900" indent="-342900">
              <a:buFont typeface="Wingdings" panose="05000000000000000000" pitchFamily="2" charset="2"/>
              <a:buChar char="è"/>
            </a:pPr>
            <a:r>
              <a:rPr lang="en-US" dirty="0">
                <a:sym typeface="Wingdings" panose="05000000000000000000" pitchFamily="2" charset="2"/>
              </a:rPr>
              <a:t> Genre classification for content recommendations. </a:t>
            </a:r>
          </a:p>
          <a:p>
            <a:pPr marL="342900" indent="-342900">
              <a:buFont typeface="Wingdings" panose="05000000000000000000" pitchFamily="2" charset="2"/>
              <a:buChar char="è"/>
            </a:pPr>
            <a:r>
              <a:rPr lang="en-US" dirty="0">
                <a:sym typeface="Wingdings" panose="05000000000000000000" pitchFamily="2" charset="2"/>
              </a:rPr>
              <a:t>These insights help media companies optimize content creation, distribution, and marketing</a:t>
            </a:r>
            <a:endParaRPr lang="en-IN" dirty="0"/>
          </a:p>
        </p:txBody>
      </p:sp>
    </p:spTree>
    <p:extLst>
      <p:ext uri="{BB962C8B-B14F-4D97-AF65-F5344CB8AC3E}">
        <p14:creationId xmlns:p14="http://schemas.microsoft.com/office/powerpoint/2010/main" val="3612334997"/>
      </p:ext>
    </p:extLst>
  </p:cSld>
  <p:clrMapOvr>
    <a:masterClrMapping/>
  </p:clrMapOvr>
</p:sld>
</file>

<file path=ppt/theme/theme1.xml><?xml version="1.0" encoding="utf-8"?>
<a:theme xmlns:a="http://schemas.openxmlformats.org/drawingml/2006/main" name="Matrix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docProps/app.xml><?xml version="1.0" encoding="utf-8"?>
<Properties xmlns="http://schemas.openxmlformats.org/officeDocument/2006/extended-properties" xmlns:vt="http://schemas.openxmlformats.org/officeDocument/2006/docPropsVTypes">
  <Template>Facet</Template>
  <TotalTime>319</TotalTime>
  <Words>1543</Words>
  <Application>Microsoft Office PowerPoint</Application>
  <PresentationFormat>Widescreen</PresentationFormat>
  <Paragraphs>127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Avenir Next LT Pro</vt:lpstr>
      <vt:lpstr>Bahnschrift</vt:lpstr>
      <vt:lpstr>Wingdings</vt:lpstr>
      <vt:lpstr>MatrixVTI</vt:lpstr>
      <vt:lpstr>   MEDIA AND ENTERTAINMENT</vt:lpstr>
      <vt:lpstr>Content Overview</vt:lpstr>
      <vt:lpstr>1. Probability Analysis</vt:lpstr>
      <vt:lpstr>PowerPoint Presentation</vt:lpstr>
      <vt:lpstr>Cumulative Probability Analysis</vt:lpstr>
      <vt:lpstr>PowerPoint Presentation</vt:lpstr>
      <vt:lpstr>3. Set Theory for Distribution Rights</vt:lpstr>
      <vt:lpstr>PowerPoint Presentation</vt:lpstr>
      <vt:lpstr>PowerPoint Presentation</vt:lpstr>
      <vt:lpstr>Mean, Median, and Mode for Audience Ratings</vt:lpstr>
      <vt:lpstr>PowerPoint Presentation</vt:lpstr>
      <vt:lpstr>Distribution Analysis</vt:lpstr>
      <vt:lpstr>PowerPoint Presentation</vt:lpstr>
      <vt:lpstr>PowerPoint Presentation</vt:lpstr>
      <vt:lpstr>Linear Equations and Vectors for Predictive Modeling</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 macha</dc:creator>
  <cp:lastModifiedBy>manoj macha</cp:lastModifiedBy>
  <cp:revision>2</cp:revision>
  <dcterms:created xsi:type="dcterms:W3CDTF">2024-10-06T14:22:05Z</dcterms:created>
  <dcterms:modified xsi:type="dcterms:W3CDTF">2024-10-06T19:41:20Z</dcterms:modified>
</cp:coreProperties>
</file>